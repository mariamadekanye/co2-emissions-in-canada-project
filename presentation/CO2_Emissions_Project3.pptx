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041DF14-F3CC-D82A-53E8-90938CD628BB}">
          <p14:sldIdLst>
            <p14:sldId id="256"/>
            <p14:sldId id="257"/>
            <p14:sldId id="258"/>
            <p14:sldId id="259"/>
          </p14:sldIdLst>
        </p14:section>
        <p14:section name="Exploring the Data" id="{5C359B2E-92A3-D382-1ED3-A218569B6BC3}">
          <p14:sldIdLst>
            <p14:sldId id="260"/>
            <p14:sldId id="261"/>
            <p14:sldId id="262"/>
            <p14:sldId id="263"/>
          </p14:sldIdLst>
        </p14:section>
        <p14:section name="Building the Model" id="{14A2067E-90D4-DBAF-7405-5550567A3CED}">
          <p14:sldIdLst>
            <p14:sldId id="264"/>
            <p14:sldId id="265"/>
          </p14:sldIdLst>
        </p14:section>
        <p14:section name="Interpreting the Results" id="{519CF65A-9470-449B-CEAD-0A6655BBBE13}">
          <p14:sldIdLst>
            <p14:sldId id="266"/>
            <p14:sldId id="267"/>
          </p14:sldIdLst>
        </p14:section>
        <p14:section name="Conclusion" id="{62C767B6-1A23-8122-5118-387E76208217}">
          <p14:sldIdLst>
            <p14:sldId id="268"/>
            <p14:sldId id="269"/>
          </p14:sldIdLst>
        </p14:section>
        <p14:section name="Untitled Section" id="{9BCA4AF7-6511-4D57-A299-5E07C3D102EA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9T06:24:31.978"/>
    </inkml:context>
    <inkml:brush xml:id="br0">
      <inkml:brushProperty name="width" value="0.035" units="cm"/>
      <inkml:brushProperty name="height" value="0.21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9T06:24:33.127"/>
    </inkml:context>
    <inkml:brush xml:id="br0">
      <inkml:brushProperty name="width" value="0.035" units="cm"/>
      <inkml:brushProperty name="height" value="0.21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09T06:24:34.162"/>
    </inkml:context>
    <inkml:brush xml:id="br0">
      <inkml:brushProperty name="width" value="0.035" units="cm"/>
      <inkml:brushProperty name="height" value="0.21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8600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EC4AD-EF47-3549-D89A-FE107F024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02B0CC-5DA8-AFA8-9550-0F77B4D142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D589CC-E116-04BA-C6C8-83EA9BB32C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D84755-B71D-8DDA-A38F-BB369BCB2B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899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286000"/>
            <a:ext cx="822960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931920"/>
            <a:ext cx="100584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customXml" Target="../ink/ink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28600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Vehicle Characteristics Drive CO2 Emissions?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931920"/>
            <a:ext cx="10058400" cy="6400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18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data-driven look at Canadian passenger vehicle emissions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Sharon  ·  Mariam  ·  Eric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235440" y="822960"/>
            <a:ext cx="2377440" cy="2377440"/>
          </a:xfrm>
          <a:prstGeom prst="ellipse">
            <a:avLst/>
          </a:prstGeom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9646920" y="1234440"/>
            <a:ext cx="1554480" cy="1554480"/>
          </a:xfrm>
          <a:prstGeom prst="ellipse">
            <a:avLst/>
          </a:prstGeom>
          <a:ln w="254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10012680" y="160020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Question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6492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vehicle characteristics are linked to higher levels of CO2 emissions?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406640" y="1417320"/>
            <a:ext cx="4206240" cy="4206240"/>
          </a:xfrm>
          <a:prstGeom prst="roundRect">
            <a:avLst>
              <a:gd name="adj" fmla="val 2174"/>
            </a:avLst>
          </a:prstGeom>
          <a:solidFill>
            <a:schemeClr val="bg2"/>
          </a:solidFill>
          <a:ln/>
          <a:effectLst>
            <a:outerShdw blurRad="76200" dist="381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 txBox="1"/>
          <p:nvPr/>
        </p:nvSpPr>
        <p:spPr>
          <a:xfrm>
            <a:off x="7772400" y="1691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OUTCOME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210312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which characteristics are linked to higher CO2 emissions, so we can suggest vehicle design changes that would lower Canada's vehicle carbon footprint.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57600"/>
            <a:ext cx="6492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chemeClr val="tx1"/>
                </a:solidFill>
              </a:rPr>
              <a:t>Supervised regression problem — CO2 emissions is a known, continuous target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chemeClr val="tx1"/>
                </a:solidFill>
              </a:rPr>
              <a:t>Goal is actionable insight: a lever a vehicle designer could change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chemeClr val="tx1"/>
                </a:solidFill>
              </a:rPr>
              <a:t>Builds on EDA and modelling work from earlier in the course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 &amp; Reliability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accent1"/>
                </a:solidFill>
              </a:rPr>
              <a:t>7,385</a:t>
            </a:r>
            <a:endParaRPr lang="en-US" sz="40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accent6"/>
                </a:solidFill>
              </a:rPr>
              <a:t>Vehicles in the raw dataset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297680" y="155448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</a:t>
            </a:r>
            <a:endParaRPr lang="en-US" sz="40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accent6"/>
                </a:solidFill>
              </a:rPr>
              <a:t>Missing values across all columns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046720" y="155448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12</a:t>
            </a:r>
            <a:endParaRPr lang="en-US" sz="40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accent6"/>
                </a:solidFill>
              </a:rPr>
              <a:t>Variables describing each vehicle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1088136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 txBox="1"/>
          <p:nvPr/>
        </p:nvSpPr>
        <p:spPr>
          <a:xfrm>
            <a:off x="91440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SOURCE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931920"/>
            <a:ext cx="10149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chemeClr val="tx1"/>
                </a:solidFill>
              </a:rPr>
              <a:t>CO2 Emissions Canada dataset, sourced from Kaggle — detailed, descriptive, and includes numerous vehicle and engine attributes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chemeClr val="tx1"/>
                </a:solidFill>
              </a:rPr>
              <a:t>No missing values, which makes the dataset reliable and straightforward to work with directly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chemeClr val="tx1"/>
                </a:solidFill>
              </a:rPr>
              <a:t>Sample selection caveat: the dataset excludes buses and heavy-duty trucks, so our conclusions apply to passenger and light vehicles only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Modelling Approach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4630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Supervised, not unsupervised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Our data includes a known target — CO2 emissions — so we can train a model to predict it directly.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67919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 txBox="1"/>
          <p:nvPr/>
        </p:nvSpPr>
        <p:spPr>
          <a:xfrm>
            <a:off x="548640" y="2679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633472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Regression, not classification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CO2 emissions is a continuous numerical value (g/km), not a category, so this is a regression problem.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849624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 txBox="1"/>
          <p:nvPr/>
        </p:nvSpPr>
        <p:spPr>
          <a:xfrm>
            <a:off x="548640" y="3849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803904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Two models, compared head-to-head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Linear Regression as an interpretable baseline, and Random Forest to capture non-linear relationships.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502005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 txBox="1"/>
          <p:nvPr/>
        </p:nvSpPr>
        <p:spPr>
          <a:xfrm>
            <a:off x="548640" y="5020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974336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K-Means as an independent check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Unsupervised clustering, used afterward to verify our supervised findings are a real pattern, not an artifact.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Snapshot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chemeClr val="tx1"/>
                </a:solidFill>
              </a:rPr>
              <a:t>Found 1,103 duplicate rows — removed before analysis so they don't inflate sample size or bias results toward over-represented vehicles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chemeClr val="tx1"/>
                </a:solidFill>
              </a:rPr>
              <a:t>6,282 unique vehicle records remain after cleaning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TYPICAL VEHICLE LOOKS LIKE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4340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3.16L</a:t>
            </a:r>
            <a:endParaRPr lang="en-US" sz="40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accent6"/>
                </a:solidFill>
              </a:rPr>
              <a:t>Average engine size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2377440" y="434340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250.6</a:t>
            </a:r>
            <a:endParaRPr lang="en-US" sz="40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accent6"/>
                </a:solidFill>
              </a:rPr>
              <a:t>Average CO2, g/km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434340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accent1"/>
                </a:solidFill>
              </a:rPr>
              <a:t>96–522</a:t>
            </a:r>
            <a:endParaRPr lang="en-US" sz="40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accent6"/>
                </a:solidFill>
              </a:rPr>
              <a:t>CO2 range, g/km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6492240" y="1371600"/>
            <a:ext cx="4937760" cy="4434840"/>
          </a:xfrm>
          <a:prstGeom prst="roundRect">
            <a:avLst>
              <a:gd name="adj" fmla="val 164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 txBox="1"/>
          <p:nvPr/>
        </p:nvSpPr>
        <p:spPr>
          <a:xfrm>
            <a:off x="6858000" y="16459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WHY THIS MATTERS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2011680"/>
            <a:ext cx="42062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CO2 emissions range widely — from 96 to 522 g/km — relative to a mean of 250.6. That spread is large enough to suggest it's driven by real differences in vehicle characteristics, which is exactly what our model sets out to explain.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of CO2 Emissions</a:t>
            </a:r>
            <a:endParaRPr lang="en-US" sz="3200" dirty="0"/>
          </a:p>
        </p:txBody>
      </p:sp>
      <p:pic>
        <p:nvPicPr>
          <p:cNvPr id="3" name="Image 0" descr="/tmp/claude-0/-home-claude/71db0d0a-cac1-5f0c-9fe4-2a4c8c026b71/scratchpad/project3_imgs/co2_distribution_h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6492240" cy="46634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406640" y="1417320"/>
            <a:ext cx="4206240" cy="4663440"/>
          </a:xfrm>
          <a:prstGeom prst="roundRect">
            <a:avLst>
              <a:gd name="adj" fmla="val 173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2"/>
          <p:cNvSpPr txBox="1"/>
          <p:nvPr/>
        </p:nvSpPr>
        <p:spPr>
          <a:xfrm>
            <a:off x="7772400" y="1737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WHAT WE SEE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2103120"/>
            <a:ext cx="3474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chemeClr val="tx1"/>
                </a:solidFill>
              </a:rPr>
              <a:t>Roughly bell-shaped, with a slight right skew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chemeClr val="tx1"/>
                </a:solidFill>
              </a:rPr>
              <a:t>Most vehicles cluster between 180–320 g/km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chemeClr val="tx1"/>
                </a:solidFill>
              </a:rPr>
              <a:t>A smaller number of high-emission vehicles — large SUVs, vans — pull the tail upward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Correlated with Emissions?</a:t>
            </a:r>
            <a:endParaRPr lang="en-US" sz="3200" dirty="0"/>
          </a:p>
        </p:txBody>
      </p:sp>
      <p:pic>
        <p:nvPicPr>
          <p:cNvPr id="3" name="Image 0" descr="/tmp/claude-0/-home-claude/71db0d0a-cac1-5f0c-9fe4-2a4c8c026b71/scratchpad/project3_imgs/correlation_matrix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1371600"/>
            <a:ext cx="6035040" cy="4709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737360"/>
            <a:ext cx="2377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chemeClr val="tx1"/>
                </a:solidFill>
              </a:rPr>
              <a:t>Fuel consumption (L/100km): r ≈ 0.9–0.99 with CO2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chemeClr val="tx1"/>
                </a:solidFill>
              </a:rPr>
              <a:t>Fuel Comb (mpg): r ≈ –0.9 — the inverse measure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chemeClr val="tx1"/>
                </a:solidFill>
              </a:rPr>
              <a:t>Engine Size &amp; Cylinders: r ≈ 0.7–0.85 with CO2, and ≈ 0.8 with each other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9418320" y="1371600"/>
            <a:ext cx="2194560" cy="47091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3"/>
          <p:cNvSpPr txBox="1"/>
          <p:nvPr/>
        </p:nvSpPr>
        <p:spPr>
          <a:xfrm>
            <a:off x="9646920" y="1691640"/>
            <a:ext cx="17373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Fuel consumption is tied to CO2 almost by physical necessity — burning more fuel per km directly produces more CO2.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Efficiency vs. Emissions</a:t>
            </a:r>
            <a:endParaRPr lang="en-US" sz="3200" dirty="0"/>
          </a:p>
        </p:txBody>
      </p:sp>
      <p:pic>
        <p:nvPicPr>
          <p:cNvPr id="3" name="Image 0" descr="/tmp/claude-0/-home-claude/71db0d0a-cac1-5f0c-9fe4-2a4c8c026b71/scratchpad/project3_imgs/mpg_vs_co2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6492240" cy="46634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406640" y="1417320"/>
            <a:ext cx="4206240" cy="4663440"/>
          </a:xfrm>
          <a:prstGeom prst="roundRect">
            <a:avLst>
              <a:gd name="adj" fmla="val 173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2"/>
          <p:cNvSpPr txBox="1"/>
          <p:nvPr/>
        </p:nvSpPr>
        <p:spPr>
          <a:xfrm>
            <a:off x="7772400" y="1737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WHAT WE SEE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2103120"/>
            <a:ext cx="3474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chemeClr val="tx1"/>
                </a:solidFill>
              </a:rPr>
              <a:t>CO2 drops sharply as fuel efficiency (mpg) rises — a curved, non-linear relationship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chemeClr val="tx1"/>
                </a:solidFill>
              </a:rPr>
              <a:t>Steepest drop between roughly 15–30 mpg, flattening out at higher mpg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chemeClr val="tx1"/>
                </a:solidFill>
              </a:rPr>
              <a:t>A single-feature regression on mpg alone already explains R² = 0.81 of the variance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 &amp; Feature Selection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TAKEN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577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chemeClr val="tx1"/>
                </a:solidFill>
              </a:rPr>
              <a:t>Removed 1,103 duplicate rows before any analysis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chemeClr val="tx1"/>
                </a:solidFill>
              </a:rPr>
              <a:t>Confirmed zero missing values across all columns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chemeClr val="tx1"/>
                </a:solidFill>
              </a:rPr>
              <a:t>Label-encoded categorical text columns (Vehicle Class, Fuel Type, Transmission) into integers for scikit-learn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chemeClr val="tx1"/>
                </a:solidFill>
              </a:rPr>
              <a:t>Excluded Model (2,000+ unique values) — effectively a unique identifier, not a meaningful predictor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chemeClr val="tx1"/>
                </a:solidFill>
              </a:rPr>
              <a:t>Excluded Make for the same reason, to a lesser degree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chemeClr val="tx1"/>
                </a:solidFill>
              </a:rPr>
              <a:t>Excluded all four fuel consumption columns (incl. mpg) — these are outcomes of vehicle design, not design characteristics a team could change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92240" y="1417320"/>
            <a:ext cx="4937760" cy="4206240"/>
          </a:xfrm>
          <a:prstGeom prst="roundRect">
            <a:avLst>
              <a:gd name="adj" fmla="val 1739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 txBox="1"/>
          <p:nvPr/>
        </p:nvSpPr>
        <p:spPr>
          <a:xfrm>
            <a:off x="6858000" y="16916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FINAL FEATURE SET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0" y="2057400"/>
            <a:ext cx="4206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chemeClr val="bg1"/>
                </a:solidFill>
              </a:rPr>
              <a:t>Engine Size (L)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chemeClr val="bg1"/>
                </a:solidFill>
              </a:rPr>
              <a:t>Cylinders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chemeClr val="bg1"/>
                </a:solidFill>
              </a:rPr>
              <a:t>Vehicle Class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chemeClr val="bg1"/>
                </a:solidFill>
              </a:rPr>
              <a:t>Transmission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700" dirty="0">
                <a:solidFill>
                  <a:schemeClr val="bg1"/>
                </a:solidFill>
              </a:rPr>
              <a:t>Fuel Type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858000" y="50749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Design characteristics only — nothing a reader could mistake for a restated version of the target.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0881360" cy="1371600"/>
        </p:xfrm>
        <a:graphic>
          <a:graphicData uri="http://schemas.openxmlformats.org/drawingml/2006/table">
            <a:tbl>
              <a:tblPr/>
              <a:tblGrid>
                <a:gridCol w="2176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Test R²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Train R²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Test MAE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Test RMSE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Linear Regression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0.7715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0.7789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21.18 g/km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28.08 g/km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accent5"/>
                          </a:solidFill>
                        </a:rPr>
                        <a:t>Random Forest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accent5"/>
                          </a:solidFill>
                        </a:rPr>
                        <a:t>0.9318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0.9515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accent5"/>
                          </a:solidFill>
                        </a:rPr>
                        <a:t>11.06 g/km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accent5"/>
                          </a:solidFill>
                        </a:rPr>
                        <a:t>15.34 g/km</a:t>
                      </a:r>
                      <a:endParaRPr lang="en-US" sz="1500" dirty="0"/>
                    </a:p>
                  </a:txBody>
                  <a:tcPr anchor="ctr">
                    <a:lnL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3657600"/>
            <a:ext cx="1088136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2"/>
          <p:cNvSpPr txBox="1"/>
          <p:nvPr/>
        </p:nvSpPr>
        <p:spPr>
          <a:xfrm>
            <a:off x="914400" y="3886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TAKEAWAY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4206240"/>
            <a:ext cx="10149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chemeClr val="tx1"/>
                </a:solidFill>
              </a:rPr>
              <a:t>Random Forest outperforms Linear Regression on every metric — the relationship between vehicle characteristics and CO2 is not purely linear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chemeClr val="tx1"/>
                </a:solidFill>
              </a:rPr>
              <a:t>Both models' train and test scores are close, so neither is overfitting — results generalize well to unseen vehicles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Drives Emissions?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PERMUTATION IMPORTANCE (RANDOM FOREST)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5120640" cy="301752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Feature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Importance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Engine Size (L)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1.33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Vehicle Class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0.21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Transmission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0.11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Fuel Type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0.07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Cylinders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0.04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03504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 COEFFICIENTS (G/KM PER UNIT)</a:t>
            </a:r>
            <a:endParaRPr lang="en-US" sz="13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737360"/>
          <a:ext cx="5394960" cy="3017520"/>
        </p:xfrm>
        <a:graphic>
          <a:graphicData uri="http://schemas.openxmlformats.org/drawingml/2006/table">
            <a:tbl>
              <a:tblPr/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Feature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Coefficient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Engine Size (L)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+23.44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Cylinders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+9.51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Fuel Type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+3.10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Vehicle Class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+2.25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Transmission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−0.41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3F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983480"/>
            <a:ext cx="1088136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4"/>
          <p:cNvSpPr txBox="1"/>
          <p:nvPr/>
        </p:nvSpPr>
        <p:spPr>
          <a:xfrm>
            <a:off x="914400" y="51206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chemeClr val="bg1"/>
                </a:solidFill>
              </a:rPr>
              <a:t>Engine Size is overwhelmingly the strongest, most reliable lever: each additional litre of displacement is associated with an estimated +23.4 g/km of CO2, holding other variables constant — and both methods agree on the ranking.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Check: Clustering</a:t>
            </a:r>
            <a:endParaRPr lang="en-US" sz="3200" dirty="0"/>
          </a:p>
        </p:txBody>
      </p:sp>
      <p:pic>
        <p:nvPicPr>
          <p:cNvPr id="3" name="Image 0" descr="/tmp/claude-0/-home-claude/71db0d0a-cac1-5f0c-9fe4-2a4c8c026b71/scratchpad/project3_imgs/kmeans_clusters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6492240" cy="46634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406640" y="1417320"/>
            <a:ext cx="4206240" cy="4663440"/>
          </a:xfrm>
          <a:prstGeom prst="roundRect">
            <a:avLst>
              <a:gd name="adj" fmla="val 173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2"/>
          <p:cNvSpPr txBox="1"/>
          <p:nvPr/>
        </p:nvSpPr>
        <p:spPr>
          <a:xfrm>
            <a:off x="7772400" y="1691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WHY WE DID THIS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201168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K-Means is unsupervised — it never sees CO2 emissions. If it still separates vehicles into groups with distinct average CO2, that's independent evidence of a real pattern, not a modelling artifact.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36576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219.4</a:t>
            </a:r>
            <a:endParaRPr lang="en-US" sz="40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accent6"/>
                </a:solidFill>
              </a:rPr>
              <a:t>Cluster 0 avg CO2, g/km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9601200" y="36576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309.8</a:t>
            </a:r>
            <a:endParaRPr lang="en-US" sz="4000" dirty="0"/>
          </a:p>
          <a:p>
            <a:pPr marL="0" indent="0" algn="l">
              <a:buNone/>
            </a:pPr>
            <a:r>
              <a:rPr lang="en-US" sz="1300" dirty="0">
                <a:solidFill>
                  <a:schemeClr val="accent6"/>
                </a:solidFill>
              </a:rPr>
              <a:t>Cluster 1 avg CO2, g/km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51663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The two groups split cleanly along Engine Size — confirming the same relationship our models found.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77240"/>
            <a:ext cx="8503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Size Is the Clearest Lever for Lowering Emissions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31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Random Forest model explains 93.18% of the variance in CO2 emissions (MAE = 11.06 g/km) using only Engine Size, Vehicle Class, Cylinders, Transmission, and Fuel Type.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290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chemeClr val="bg1"/>
                </a:solidFill>
              </a:rPr>
              <a:t>We achieved our desired outcome: Engine Size and Cylinders are the two strongest, </a:t>
            </a:r>
            <a:r>
              <a:rPr lang="en-US" sz="1600" dirty="0" err="1">
                <a:solidFill>
                  <a:schemeClr val="bg1"/>
                </a:solidFill>
              </a:rPr>
              <a:t>mos</a:t>
            </a:r>
            <a:r>
              <a:rPr lang="en-US" sz="1600" dirty="0">
                <a:solidFill>
                  <a:schemeClr val="bg1"/>
                </a:solidFill>
              </a:rPr>
              <a:t> actionable design characteristics behind CO2 emissions</a:t>
            </a:r>
            <a:endParaRPr lang="en-US" sz="1600" dirty="0"/>
          </a:p>
          <a:p>
            <a:pPr marL="228600" indent="-228600">
              <a:buSzPct val="100000"/>
              <a:buChar char="▪"/>
            </a:pPr>
            <a:r>
              <a:rPr lang="en-US" sz="1600" dirty="0">
                <a:solidFill>
                  <a:schemeClr val="bg1"/>
                </a:solidFill>
              </a:rPr>
              <a:t>A shift toward smaller-displacement engines would have the largest direct impact on emissions, more so than changes to Vehicle Class or Transmission alone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474720" cy="411480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2926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Add vehicle weight</a:t>
            </a:r>
            <a:endParaRPr lang="en-US" sz="1600" dirty="0"/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chemeClr val="accent6"/>
                </a:solidFill>
              </a:rPr>
              <a:t>Weight is a known driver of fuel use and isn't in this dataset — likely explains additional variance.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97680" y="1645920"/>
            <a:ext cx="3474720" cy="411480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4572000" y="1965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 txBox="1"/>
          <p:nvPr/>
        </p:nvSpPr>
        <p:spPr>
          <a:xfrm>
            <a:off x="45720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697480"/>
            <a:ext cx="2926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Add powertrain type</a:t>
            </a:r>
            <a:endParaRPr lang="en-US" sz="1600" dirty="0"/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chemeClr val="accent6"/>
                </a:solidFill>
              </a:rPr>
              <a:t>Explicitly flagging hybrid / EV / ICE vehicles would sharpen the design recommendation further.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3474720" cy="411480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8321040" y="19659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 txBox="1"/>
          <p:nvPr/>
        </p:nvSpPr>
        <p:spPr>
          <a:xfrm>
            <a:off x="83210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697480"/>
            <a:ext cx="2926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Validate with a holdout make/year</a:t>
            </a:r>
            <a:endParaRPr lang="en-US" sz="1600" dirty="0"/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chemeClr val="accent6"/>
                </a:solidFill>
              </a:rPr>
              <a:t>Test generalization to a model year or make the training data hasn't seen at all.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4832F-1E41-7305-3B58-A440AAD87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>
            <a:extLst>
              <a:ext uri="{FF2B5EF4-FFF2-40B4-BE49-F238E27FC236}">
                <a16:creationId xmlns:a16="http://schemas.microsoft.com/office/drawing/2014/main" id="{536F9D11-3CCC-C175-315B-ED35BAB5F126}"/>
              </a:ext>
            </a:extLst>
          </p:cNvPr>
          <p:cNvSpPr/>
          <p:nvPr/>
        </p:nvSpPr>
        <p:spPr>
          <a:xfrm>
            <a:off x="834189" y="671804"/>
            <a:ext cx="9897979" cy="5088916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/>
        </p:spPr>
        <p:txBody>
          <a:bodyPr/>
          <a:lstStyle/>
          <a:p>
            <a:pPr algn="ctr"/>
            <a:endParaRPr lang="en-CA" sz="7200" dirty="0"/>
          </a:p>
          <a:p>
            <a:pPr algn="ctr"/>
            <a:r>
              <a:rPr lang="en-CA" sz="7200" dirty="0"/>
              <a:t>Thank you!</a:t>
            </a:r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88B03F74-92AA-F837-A54E-3CB8EAAEBF91}"/>
                  </a:ext>
                </a:extLst>
              </p14:cNvPr>
              <p14:cNvContentPartPr/>
              <p14:nvPr/>
            </p14:nvContentPartPr>
            <p14:xfrm>
              <a:off x="5551472" y="3638601"/>
              <a:ext cx="360" cy="3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88B03F74-92AA-F837-A54E-3CB8EAAEBF9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45352" y="3601161"/>
                <a:ext cx="1260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C498340D-6F7D-ECC8-0928-090D762F143F}"/>
                  </a:ext>
                </a:extLst>
              </p14:cNvPr>
              <p14:cNvContentPartPr/>
              <p14:nvPr/>
            </p14:nvContentPartPr>
            <p14:xfrm>
              <a:off x="7968152" y="2808441"/>
              <a:ext cx="360" cy="3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C498340D-6F7D-ECC8-0928-090D762F143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62032" y="2770641"/>
                <a:ext cx="1260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4BD95216-1FD6-F67C-80E7-1EA62E449446}"/>
                  </a:ext>
                </a:extLst>
              </p14:cNvPr>
              <p14:cNvContentPartPr/>
              <p14:nvPr/>
            </p14:nvContentPartPr>
            <p14:xfrm>
              <a:off x="8173352" y="2444481"/>
              <a:ext cx="360" cy="3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4BD95216-1FD6-F67C-80E7-1EA62E44944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167232" y="2406681"/>
                <a:ext cx="12600" cy="75600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F325DE2D-BED1-91BA-428C-03CF8E6CA408}"/>
              </a:ext>
            </a:extLst>
          </p:cNvPr>
          <p:cNvSpPr txBox="1"/>
          <p:nvPr/>
        </p:nvSpPr>
        <p:spPr>
          <a:xfrm>
            <a:off x="3685592" y="3429000"/>
            <a:ext cx="41707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/>
              <a:t>Any questions? </a:t>
            </a:r>
          </a:p>
        </p:txBody>
      </p:sp>
    </p:spTree>
    <p:extLst>
      <p:ext uri="{BB962C8B-B14F-4D97-AF65-F5344CB8AC3E}">
        <p14:creationId xmlns:p14="http://schemas.microsoft.com/office/powerpoint/2010/main" val="2834999980"/>
      </p:ext>
    </p:extLst>
  </p:cSld>
  <p:clrMapOvr>
    <a:masterClrMapping/>
  </p:clrMapOvr>
</p:sld>
</file>

<file path=ppt/theme/theme1.xml><?xml version="1.0" encoding="utf-8"?>
<a:theme xmlns:a="http://schemas.openxmlformats.org/drawingml/2006/main" name="CO2 Emissions Analysis">
  <a:themeElements>
    <a:clrScheme name="CO2 Emissions Analysis">
      <a:dk1>
        <a:srgbClr val="FFFFFF"/>
      </a:dk1>
      <a:lt1>
        <a:srgbClr val="FFFFFF"/>
      </a:lt1>
      <a:dk2>
        <a:srgbClr val="1E2250"/>
      </a:dk2>
      <a:lt2>
        <a:srgbClr val="14162E"/>
      </a:lt2>
      <a:accent1>
        <a:srgbClr val="4DA3FF"/>
      </a:accent1>
      <a:accent2>
        <a:srgbClr val="9FC6FF"/>
      </a:accent2>
      <a:accent3>
        <a:srgbClr val="B088FF"/>
      </a:accent3>
      <a:accent4>
        <a:srgbClr val="B088FF"/>
      </a:accent4>
      <a:accent5>
        <a:srgbClr val="34D399"/>
      </a:accent5>
      <a:accent6>
        <a:srgbClr val="A9ADD4"/>
      </a:accent6>
      <a:hlink>
        <a:srgbClr val="4DA3FF"/>
      </a:hlink>
      <a:folHlink>
        <a:srgbClr val="B088FF"/>
      </a:folHlink>
    </a:clrScheme>
    <a:fontScheme name="CO2 Emissions Analysi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1102</Words>
  <Application>Microsoft Office PowerPoint</Application>
  <PresentationFormat>Widescreen</PresentationFormat>
  <Paragraphs>164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CO2 Emissions Analysis</vt:lpstr>
      <vt:lpstr>Which Vehicle Characteristics Drive CO2 Emissions?</vt:lpstr>
      <vt:lpstr>Our Question</vt:lpstr>
      <vt:lpstr>Data Source &amp; Reliability</vt:lpstr>
      <vt:lpstr>Our Modelling Approach</vt:lpstr>
      <vt:lpstr>Data Snapshot</vt:lpstr>
      <vt:lpstr>Distribution of CO2 Emissions</vt:lpstr>
      <vt:lpstr>What's Correlated with Emissions?</vt:lpstr>
      <vt:lpstr>Fuel Efficiency vs. Emissions</vt:lpstr>
      <vt:lpstr>Preprocessing &amp; Feature Selection</vt:lpstr>
      <vt:lpstr>Model Comparison</vt:lpstr>
      <vt:lpstr>What Drives Emissions?</vt:lpstr>
      <vt:lpstr>Independent Check: Clustering</vt:lpstr>
      <vt:lpstr>PowerPoint Presentation</vt:lpstr>
      <vt:lpstr>Next Steps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Mariam Adekanye</cp:lastModifiedBy>
  <cp:revision>2</cp:revision>
  <dcterms:created xsi:type="dcterms:W3CDTF">2026-10-09T06:13:14Z</dcterms:created>
  <dcterms:modified xsi:type="dcterms:W3CDTF">2026-10-09T06:25:55Z</dcterms:modified>
</cp:coreProperties>
</file>